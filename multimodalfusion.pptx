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7" r:id="rId5"/>
    <p:sldId id="502" r:id="rId6"/>
    <p:sldId id="472" r:id="rId7"/>
    <p:sldId id="285" r:id="rId8"/>
    <p:sldId id="477" r:id="rId9"/>
    <p:sldId id="492" r:id="rId10"/>
    <p:sldId id="506" r:id="rId11"/>
    <p:sldId id="473" r:id="rId12"/>
    <p:sldId id="496" r:id="rId13"/>
    <p:sldId id="487" r:id="rId14"/>
    <p:sldId id="497" r:id="rId15"/>
    <p:sldId id="493" r:id="rId16"/>
    <p:sldId id="503" r:id="rId17"/>
    <p:sldId id="478" r:id="rId18"/>
    <p:sldId id="494" r:id="rId19"/>
    <p:sldId id="495" r:id="rId20"/>
    <p:sldId id="475" r:id="rId21"/>
    <p:sldId id="498" r:id="rId22"/>
    <p:sldId id="500" r:id="rId23"/>
    <p:sldId id="505" r:id="rId24"/>
    <p:sldId id="488" r:id="rId25"/>
    <p:sldId id="499" r:id="rId26"/>
    <p:sldId id="504" r:id="rId27"/>
    <p:sldId id="289" r:id="rId28"/>
    <p:sldId id="29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A5AD71-53B0-40D7-B566-98C408058252}">
          <p14:sldIdLst>
            <p14:sldId id="257"/>
          </p14:sldIdLst>
        </p14:section>
        <p14:section name="Summary Section" id="{D77EC44D-A8B0-4F40-853F-74972E778DB6}">
          <p14:sldIdLst>
            <p14:sldId id="502"/>
          </p14:sldIdLst>
        </p14:section>
        <p14:section name="Introduction" id="{E06C22F7-7123-4549-9873-29B48248082A}">
          <p14:sldIdLst>
            <p14:sldId id="472"/>
            <p14:sldId id="285"/>
            <p14:sldId id="477"/>
            <p14:sldId id="492"/>
            <p14:sldId id="506"/>
          </p14:sldIdLst>
        </p14:section>
        <p14:section name="Literature Survey" id="{F9559507-ABA7-4BD3-908D-65B0AEEEC233}">
          <p14:sldIdLst>
            <p14:sldId id="473"/>
            <p14:sldId id="496"/>
          </p14:sldIdLst>
        </p14:section>
        <p14:section name="Datasets" id="{08CD44C5-CA16-4A65-AEB8-73602A004907}">
          <p14:sldIdLst>
            <p14:sldId id="487"/>
            <p14:sldId id="497"/>
            <p14:sldId id="493"/>
          </p14:sldIdLst>
        </p14:section>
        <p14:section name="Methodology" id="{76715DF4-117C-4DC3-9C92-63089F0F2F02}">
          <p14:sldIdLst>
            <p14:sldId id="503"/>
            <p14:sldId id="478"/>
            <p14:sldId id="494"/>
            <p14:sldId id="495"/>
          </p14:sldIdLst>
        </p14:section>
        <p14:section name="Research Objectives" id="{64C44BCA-168F-472A-881A-F6B13FADB2D1}">
          <p14:sldIdLst>
            <p14:sldId id="475"/>
            <p14:sldId id="498"/>
            <p14:sldId id="500"/>
          </p14:sldIdLst>
        </p14:section>
        <p14:section name="GANTT Chart" id="{6093A283-5241-415F-8420-AB05DE4B5A74}">
          <p14:sldIdLst>
            <p14:sldId id="505"/>
            <p14:sldId id="488"/>
            <p14:sldId id="499"/>
          </p14:sldIdLst>
        </p14:section>
        <p14:section name="References" id="{7B7DCA32-5733-4CCE-B166-E1514C57566A}">
          <p14:sldIdLst>
            <p14:sldId id="504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  <a:srgbClr val="D5222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0" autoAdjust="0"/>
    <p:restoredTop sz="88479"/>
  </p:normalViewPr>
  <p:slideViewPr>
    <p:cSldViewPr snapToGrid="0">
      <p:cViewPr varScale="1">
        <p:scale>
          <a:sx n="55" d="100"/>
          <a:sy n="55" d="100"/>
        </p:scale>
        <p:origin x="7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BB2A2-E813-482E-B262-6DAE8B419666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CF05CA-748F-4643-9C6A-038EFFA52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2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904CA-8095-4A4D-B4DC-91F8117482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8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19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2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64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307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Basal cell carcinoma – Occurs in the basal cells in the lower part of the epidermis (outside layer).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Squamous CC – Occurs in the squamous cells in the outside layer of the skin.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Melanoma – Occurs in cells called melanocytes, which causes pigmentation of skin. Most deadly.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Merkel CC – Occurs in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Times New Roman" pitchFamily="18" charset="0"/>
              </a:rPr>
              <a:t>merkel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 cells in epidermis layer, it is aggressive form of carcinoma.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Sebaceous C – Occurs in skin’s oil producing glands called, sebaceous glands, commonly found in hairy skin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21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855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638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F05CA-748F-4643-9C6A-038EFFA52DE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56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5867D-4632-FBD1-12D2-48EC6DC81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C9BD51-15B5-A429-B9D7-4646C0FF40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45476-7A50-49FF-913C-221BEEEA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67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44627-592A-CA39-82ED-4BDF74FC3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004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3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slide" Target="slide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slide" Target="slide10.xml"/><Relationship Id="rId5" Type="http://schemas.openxmlformats.org/officeDocument/2006/relationships/image" Target="../media/image6.png"/><Relationship Id="rId15" Type="http://schemas.openxmlformats.org/officeDocument/2006/relationships/slide" Target="slide23.xml"/><Relationship Id="rId10" Type="http://schemas.openxmlformats.org/officeDocument/2006/relationships/slide" Target="slide8.xml"/><Relationship Id="rId4" Type="http://schemas.openxmlformats.org/officeDocument/2006/relationships/image" Target="../media/image5.png"/><Relationship Id="rId9" Type="http://schemas.openxmlformats.org/officeDocument/2006/relationships/slide" Target="slide3.xml"/><Relationship Id="rId1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v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3898396"/>
            <a:ext cx="4724400" cy="561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>
              <a:lnSpc>
                <a:spcPts val="4000"/>
              </a:lnSpc>
            </a:pP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</a:t>
            </a: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0399"/>
            <a:ext cx="3716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BENNETT UNIVERSITY</a:t>
            </a:r>
          </a:p>
        </p:txBody>
      </p:sp>
      <p:pic>
        <p:nvPicPr>
          <p:cNvPr id="3" name="Picture 2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93BE0464-DB01-4373-BAD8-0AF7904D4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208" y="1"/>
            <a:ext cx="2974805" cy="11031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4F007A-79EC-FDFB-2E8B-E732746F14E3}"/>
              </a:ext>
            </a:extLst>
          </p:cNvPr>
          <p:cNvSpPr txBox="1"/>
          <p:nvPr/>
        </p:nvSpPr>
        <p:spPr>
          <a:xfrm>
            <a:off x="2315633" y="3429000"/>
            <a:ext cx="8047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cs typeface="Times" panose="02020603050405020304" pitchFamily="18" charset="0"/>
              </a:rPr>
              <a:t>Proposal : </a:t>
            </a:r>
            <a:r>
              <a:rPr lang="en-US" sz="2000" b="1" dirty="0">
                <a:solidFill>
                  <a:srgbClr val="002060"/>
                </a:solidFill>
                <a:cs typeface="Times" panose="02020603050405020304" pitchFamily="18" charset="0"/>
              </a:rPr>
              <a:t>Basic integration of modules + rule-based alerting</a:t>
            </a:r>
            <a:endParaRPr lang="en-IN" sz="2000" b="1" dirty="0">
              <a:solidFill>
                <a:srgbClr val="002060"/>
              </a:solidFill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7FABF-6CB1-2E2A-4B15-871FFCA091B1}"/>
              </a:ext>
            </a:extLst>
          </p:cNvPr>
          <p:cNvSpPr txBox="1"/>
          <p:nvPr/>
        </p:nvSpPr>
        <p:spPr>
          <a:xfrm>
            <a:off x="292164" y="5053831"/>
            <a:ext cx="11416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+mj-lt"/>
                <a:cs typeface="Calibri" panose="020F0502020204030204" pitchFamily="34" charset="0"/>
              </a:rPr>
              <a:t>Presented by   : TANIYA DIXIT</a:t>
            </a:r>
          </a:p>
          <a:p>
            <a:r>
              <a:rPr lang="en-IN" sz="2000" b="1" dirty="0">
                <a:solidFill>
                  <a:srgbClr val="002060"/>
                </a:solidFill>
                <a:latin typeface="+mj-lt"/>
                <a:cs typeface="Calibri" panose="020F0502020204030204" pitchFamily="34" charset="0"/>
              </a:rPr>
              <a:t>Enrolment No : 35418011922			Supervisors        :  Dr. Upasna Joshi</a:t>
            </a:r>
          </a:p>
          <a:p>
            <a:r>
              <a:rPr lang="en-IN" sz="2000" b="1" dirty="0">
                <a:solidFill>
                  <a:srgbClr val="002060"/>
                </a:solidFill>
                <a:latin typeface="+mj-lt"/>
                <a:cs typeface="Calibri" panose="020F0502020204030204" pitchFamily="34" charset="0"/>
              </a:rPr>
              <a:t>Semester          : 7                    				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AE9BEF-5E83-C930-F319-106596E0EAF6}"/>
              </a:ext>
            </a:extLst>
          </p:cNvPr>
          <p:cNvSpPr/>
          <p:nvPr/>
        </p:nvSpPr>
        <p:spPr>
          <a:xfrm>
            <a:off x="-659090" y="1343224"/>
            <a:ext cx="966631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Multimodal Fusion &amp; Alert System</a:t>
            </a:r>
          </a:p>
        </p:txBody>
      </p:sp>
    </p:spTree>
    <p:extLst>
      <p:ext uri="{BB962C8B-B14F-4D97-AF65-F5344CB8AC3E}">
        <p14:creationId xmlns:p14="http://schemas.microsoft.com/office/powerpoint/2010/main" val="272098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6">
            <a:extLst>
              <a:ext uri="{FF2B5EF4-FFF2-40B4-BE49-F238E27FC236}">
                <a16:creationId xmlns:a16="http://schemas.microsoft.com/office/drawing/2014/main" id="{895F974B-4749-B75B-783B-78FC5626A3CF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</a:rPr>
              <a:t>Contents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CD06D27A-791D-86A7-FC53-E2B7BDE9A9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9145787"/>
                  </p:ext>
                </p:extLst>
              </p:nvPr>
            </p:nvGraphicFramePr>
            <p:xfrm>
              <a:off x="-192135" y="1145894"/>
              <a:ext cx="12229805" cy="5490310"/>
            </p:xfrm>
            <a:graphic>
              <a:graphicData uri="http://schemas.microsoft.com/office/powerpoint/2016/summaryzoom">
                <psuz:summaryZm>
                  <psuz:summaryZmObj sectionId="{E06C22F7-7123-4549-9873-29B48248082A}">
                    <psuz:zmPr id="{898D6BAD-12A2-424E-B8A8-3F07DB6FACB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612851" y="164710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9559507-ABA7-4BD3-908D-65B0AEEEC233}">
                    <psuz:zmPr id="{B85C9134-2A5D-4BDF-BB26-476C5D8DD02B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650821" y="164710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8CD44C5-CA16-4A65-AEB8-73602A004907}">
                    <psuz:zmPr id="{498397BF-CD3E-46ED-BC70-9D49464C65D0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688791" y="164710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4C44BCA-168F-472A-881A-F6B13FADB2D1}">
                    <psuz:zmPr id="{3CC9C49D-4E27-4145-A96D-46B9D44B1D00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612851" y="1921609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6715DF4-117C-4DC3-9C92-63089F0F2F02}">
                    <psuz:zmPr id="{1D0A03E6-149A-4FB3-A469-9FAE013CA62F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650821" y="1921609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093A283-5241-415F-8420-AB05DE4B5A74}">
                    <psuz:zmPr id="{91C263D3-E397-400E-BA9D-94443F16FE76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688791" y="1921609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B7DCA32-5733-4CCE-B166-E1514C57566A}">
                    <psuz:zmPr id="{BE6EC7DC-0FEB-44CA-8139-C0D1B0DB412F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612851" y="3678508"/>
                          <a:ext cx="2928164" cy="164709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CD06D27A-791D-86A7-FC53-E2B7BDE9A93C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-192135" y="1145894"/>
                <a:ext cx="12229805" cy="5490310"/>
                <a:chOff x="-192135" y="1145894"/>
                <a:chExt cx="12229805" cy="5490310"/>
              </a:xfrm>
            </p:grpSpPr>
            <p:pic>
              <p:nvPicPr>
                <p:cNvPr id="6" name="Picture 6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20716" y="1310604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58686" y="1310604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Picture 8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96656" y="1310604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Picture 9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20716" y="3067503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Picture 10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58686" y="3067503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Picture 11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96656" y="3067503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Picture 13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0716" y="4824402"/>
                  <a:ext cx="2928164" cy="164709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403080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AE987-4A06-49B7-F28D-383B38D6D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2FFBE-39B9-11C1-9BAD-082C9455480A}"/>
              </a:ext>
            </a:extLst>
          </p:cNvPr>
          <p:cNvSpPr/>
          <p:nvPr/>
        </p:nvSpPr>
        <p:spPr>
          <a:xfrm>
            <a:off x="3976926" y="1235811"/>
            <a:ext cx="4238148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Introduction</a:t>
            </a:r>
          </a:p>
          <a:p>
            <a:pPr algn="ctr"/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647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44C54-F8EA-E08C-2D1B-C0691EC4682E}"/>
              </a:ext>
            </a:extLst>
          </p:cNvPr>
          <p:cNvSpPr txBox="1"/>
          <p:nvPr/>
        </p:nvSpPr>
        <p:spPr>
          <a:xfrm>
            <a:off x="604777" y="1589334"/>
            <a:ext cx="10854159" cy="445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Modern vehicles and monitoring systems need </a:t>
            </a:r>
            <a:r>
              <a:rPr lang="en-US" sz="2400" b="1" dirty="0"/>
              <a:t>real-time decision-making</a:t>
            </a:r>
            <a:r>
              <a:rPr lang="en-US" sz="2400" dirty="0"/>
              <a:t> for safety.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Multimodal fusion</a:t>
            </a:r>
            <a:r>
              <a:rPr lang="en-US" sz="2400" dirty="0"/>
              <a:t> integrates data from multiple sources: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Vision (camera, object detection)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Audio (sounds like horn, siren, yawning)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Sensors (speed, GPS, OBD-II, environment)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Rule-based alerting</a:t>
            </a:r>
            <a:r>
              <a:rPr lang="en-US" sz="2400" dirty="0"/>
              <a:t> applies simple IF–THEN logic to trigger safety alerts.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Goal</a:t>
            </a:r>
            <a:r>
              <a:rPr lang="en-US" sz="2400" dirty="0"/>
              <a:t>: Provide </a:t>
            </a:r>
            <a:r>
              <a:rPr lang="en-US" sz="2400" b="1" dirty="0"/>
              <a:t>early warnings</a:t>
            </a:r>
            <a:r>
              <a:rPr lang="en-US" sz="2400" dirty="0"/>
              <a:t> to prevent accidents and ensure driver awareness.</a:t>
            </a:r>
          </a:p>
        </p:txBody>
      </p:sp>
    </p:spTree>
    <p:extLst>
      <p:ext uri="{BB962C8B-B14F-4D97-AF65-F5344CB8AC3E}">
        <p14:creationId xmlns:p14="http://schemas.microsoft.com/office/powerpoint/2010/main" val="377239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449801" y="130890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i="1" dirty="0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9896E-EFDE-EE8B-AC4E-2295D71C4D21}"/>
              </a:ext>
            </a:extLst>
          </p:cNvPr>
          <p:cNvSpPr/>
          <p:nvPr/>
        </p:nvSpPr>
        <p:spPr>
          <a:xfrm>
            <a:off x="246868" y="1400700"/>
            <a:ext cx="11620984" cy="47498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7876E-BC1D-BBAD-B22C-AE23539B105D}"/>
              </a:ext>
            </a:extLst>
          </p:cNvPr>
          <p:cNvSpPr/>
          <p:nvPr/>
        </p:nvSpPr>
        <p:spPr>
          <a:xfrm>
            <a:off x="655898" y="235539"/>
            <a:ext cx="49462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PROBL</a:t>
            </a:r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EM STATEMENT</a:t>
            </a:r>
            <a:endParaRPr lang="en-US" sz="2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3BEFD-E875-E55C-C9C3-9626FF2540A9}"/>
              </a:ext>
            </a:extLst>
          </p:cNvPr>
          <p:cNvSpPr txBox="1"/>
          <p:nvPr/>
        </p:nvSpPr>
        <p:spPr>
          <a:xfrm>
            <a:off x="408972" y="2207710"/>
            <a:ext cx="10880203" cy="342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Rising number of road accidents due to: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Driver distraction and drowsiness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Ignoring traffic signals/signs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Environmental factors (rain, speed, obstacles)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Current systems often rely on a </a:t>
            </a:r>
            <a:r>
              <a:rPr lang="en-US" sz="2400" b="1" dirty="0"/>
              <a:t>single modality</a:t>
            </a:r>
            <a:r>
              <a:rPr lang="en-US" sz="2400" dirty="0"/>
              <a:t> → limited accuracy.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Need for a </a:t>
            </a:r>
            <a:r>
              <a:rPr lang="en-US" sz="2400" b="1" dirty="0"/>
              <a:t>fused multimodal system</a:t>
            </a:r>
            <a:r>
              <a:rPr lang="en-US" sz="2400" dirty="0"/>
              <a:t> that generates </a:t>
            </a:r>
            <a:r>
              <a:rPr lang="en-US" sz="2400" b="1" dirty="0"/>
              <a:t>reliable alerts</a:t>
            </a:r>
            <a:r>
              <a:rPr lang="en-US" sz="2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65C03-9CE7-2AAD-FA2E-001E04EA7346}"/>
              </a:ext>
            </a:extLst>
          </p:cNvPr>
          <p:cNvSpPr txBox="1"/>
          <p:nvPr/>
        </p:nvSpPr>
        <p:spPr>
          <a:xfrm>
            <a:off x="312458" y="1684490"/>
            <a:ext cx="9653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2400" dirty="0"/>
              <a:t>Basic integration of modules + rule-based alerting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858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tx2"/>
                </a:solidFill>
              </a:rPr>
              <a:t>OBJECTIVES</a:t>
            </a:r>
            <a:endParaRPr lang="en-US" sz="2800" b="1" i="1" dirty="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55FE1F-EAF2-B8FD-D11A-0C5A2B7C3C2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8045" y="1800292"/>
            <a:ext cx="10532963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vision, audio, and sensor modules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one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fusion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combine module outputs.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logic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detecting risky situations.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alerts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(audio, visual, haptic) to the driver.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logs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analysis and improvement.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D781F-1C68-1491-94B4-79F731088405}"/>
              </a:ext>
            </a:extLst>
          </p:cNvPr>
          <p:cNvSpPr txBox="1"/>
          <p:nvPr/>
        </p:nvSpPr>
        <p:spPr>
          <a:xfrm>
            <a:off x="616941" y="5028283"/>
            <a:ext cx="10081550" cy="707886"/>
          </a:xfrm>
          <a:prstGeom prst="rect">
            <a:avLst/>
          </a:prstGeom>
          <a:gradFill flip="none" rotWithShape="1">
            <a:gsLst>
              <a:gs pos="0">
                <a:srgbClr val="D5222F">
                  <a:tint val="66000"/>
                  <a:satMod val="160000"/>
                </a:srgbClr>
              </a:gs>
              <a:gs pos="50000">
                <a:srgbClr val="D5222F">
                  <a:tint val="44500"/>
                  <a:satMod val="160000"/>
                </a:srgbClr>
              </a:gs>
              <a:gs pos="100000">
                <a:srgbClr val="D5222F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000" b="1" dirty="0"/>
              <a:t>Collect Data (Vision, Audio, Sensors) → Fuse Data → Apply Rules → Generate Alerts → Improve Driver Safety</a:t>
            </a:r>
            <a:r>
              <a:rPr lang="en-IN" sz="2000" b="1" dirty="0">
                <a:solidFill>
                  <a:schemeClr val="tx2"/>
                </a:solidFill>
              </a:rPr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971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D443-C49A-84F8-5A13-C9C8E87F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01E97998-B431-F5A9-E578-E43599AAB425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Flowchart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890424-AC85-1FC7-ABC9-35F14363A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E91AA-3506-09A6-34BA-8A50B485B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19" y="1233994"/>
            <a:ext cx="9458762" cy="496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7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AE987-4A06-49B7-F28D-383B38D6D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9C21D-5AE5-A74A-4DC2-D104568083B1}"/>
              </a:ext>
            </a:extLst>
          </p:cNvPr>
          <p:cNvSpPr/>
          <p:nvPr/>
        </p:nvSpPr>
        <p:spPr>
          <a:xfrm>
            <a:off x="2606233" y="2685326"/>
            <a:ext cx="697953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Tools and Technologies </a:t>
            </a:r>
          </a:p>
        </p:txBody>
      </p:sp>
    </p:spTree>
    <p:extLst>
      <p:ext uri="{BB962C8B-B14F-4D97-AF65-F5344CB8AC3E}">
        <p14:creationId xmlns:p14="http://schemas.microsoft.com/office/powerpoint/2010/main" val="2831153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2"/>
                </a:solidFill>
              </a:rPr>
              <a:t>TOOLS AND TECHNOLOGIES</a:t>
            </a:r>
            <a:endParaRPr lang="en-US" sz="2800" b="1" i="1" dirty="0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9896E-EFDE-EE8B-AC4E-2295D71C4D21}"/>
              </a:ext>
            </a:extLst>
          </p:cNvPr>
          <p:cNvSpPr/>
          <p:nvPr/>
        </p:nvSpPr>
        <p:spPr>
          <a:xfrm rot="10800000">
            <a:off x="98385" y="1336874"/>
            <a:ext cx="11800390" cy="21934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335CE6-0341-B8A2-7A65-DEAEDE888B6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8385" y="1490008"/>
            <a:ext cx="119952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OpenCV, YOLO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Librosa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PyAudio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Scikit-learn,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Camera, Microphone, OBD-II / Sensors (Speed, Rain, GPS)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VS Code, 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Speakers, Dashboard display,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324940-9CC5-E622-7AA2-8BAF8F834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53249"/>
              </p:ext>
            </p:extLst>
          </p:nvPr>
        </p:nvGraphicFramePr>
        <p:xfrm>
          <a:off x="2303361" y="3854952"/>
          <a:ext cx="6899810" cy="2094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905">
                  <a:extLst>
                    <a:ext uri="{9D8B030D-6E8A-4147-A177-3AD203B41FA5}">
                      <a16:colId xmlns:a16="http://schemas.microsoft.com/office/drawing/2014/main" val="1018591468"/>
                    </a:ext>
                  </a:extLst>
                </a:gridCol>
                <a:gridCol w="3449905">
                  <a:extLst>
                    <a:ext uri="{9D8B030D-6E8A-4147-A177-3AD203B41FA5}">
                      <a16:colId xmlns:a16="http://schemas.microsoft.com/office/drawing/2014/main" val="3550080647"/>
                    </a:ext>
                  </a:extLst>
                </a:gridCol>
              </a:tblGrid>
              <a:tr h="20944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08918"/>
                  </a:ext>
                </a:extLst>
              </a:tr>
            </a:tbl>
          </a:graphicData>
        </a:graphic>
      </p:graphicFrame>
      <p:pic>
        <p:nvPicPr>
          <p:cNvPr id="8" name="Picture 7" descr="A logo with a colorful circle&#10;&#10;AI-generated content may be incorrect.">
            <a:extLst>
              <a:ext uri="{FF2B5EF4-FFF2-40B4-BE49-F238E27FC236}">
                <a16:creationId xmlns:a16="http://schemas.microsoft.com/office/drawing/2014/main" id="{B3A9D0BE-4A6C-0F2A-2EB9-9C54EF729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644" y="3978243"/>
            <a:ext cx="2466975" cy="1847850"/>
          </a:xfrm>
          <a:prstGeom prst="rect">
            <a:avLst/>
          </a:prstGeom>
        </p:spPr>
      </p:pic>
      <p:pic>
        <p:nvPicPr>
          <p:cNvPr id="10" name="Picture 9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792809D9-1362-0F1A-EBA2-52F2A629B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233" y="4078641"/>
            <a:ext cx="3044553" cy="164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1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AE987-4A06-49B7-F28D-383B38D6D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2FFBE-39B9-11C1-9BAD-082C9455480A}"/>
              </a:ext>
            </a:extLst>
          </p:cNvPr>
          <p:cNvSpPr/>
          <p:nvPr/>
        </p:nvSpPr>
        <p:spPr>
          <a:xfrm>
            <a:off x="4051139" y="2916820"/>
            <a:ext cx="35053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1524979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11F59F-3341-951D-F924-FEF765735CCC}"/>
              </a:ext>
            </a:extLst>
          </p:cNvPr>
          <p:cNvSpPr/>
          <p:nvPr/>
        </p:nvSpPr>
        <p:spPr>
          <a:xfrm rot="10800000">
            <a:off x="196769" y="1348899"/>
            <a:ext cx="11748303" cy="49593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898ECC04-2819-7E9C-0635-879B60BCF0FA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SOURCES AND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6EBE3-FB3C-CC0D-A12D-DF57AAC3F0B5}"/>
              </a:ext>
            </a:extLst>
          </p:cNvPr>
          <p:cNvSpPr txBox="1"/>
          <p:nvPr/>
        </p:nvSpPr>
        <p:spPr>
          <a:xfrm>
            <a:off x="650112" y="2068991"/>
            <a:ext cx="11655706" cy="344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1. Vision (Camera Data)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Public datasets: COCO, KITTI, Cityscapes (vehicles, pedestrians, traffic signal signs)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Custom dataset: Driver attention (eyes closed, phone usage)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2. Audio (Microphone Data)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UrbanSound8K (horns, sirens, environment sounds)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Custom recordings: Yawning, in-vehicle audio</a:t>
            </a:r>
          </a:p>
        </p:txBody>
      </p:sp>
    </p:spTree>
    <p:extLst>
      <p:ext uri="{BB962C8B-B14F-4D97-AF65-F5344CB8AC3E}">
        <p14:creationId xmlns:p14="http://schemas.microsoft.com/office/powerpoint/2010/main" val="1625928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7012AF-AC2E-798E-5152-F0F5C0B4593B}"/>
              </a:ext>
            </a:extLst>
          </p:cNvPr>
          <p:cNvSpPr/>
          <p:nvPr/>
        </p:nvSpPr>
        <p:spPr>
          <a:xfrm rot="10800000">
            <a:off x="98383" y="1724627"/>
            <a:ext cx="11823539" cy="44446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CONT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EFD02-B229-73B2-4506-073DA5C1D749}"/>
              </a:ext>
            </a:extLst>
          </p:cNvPr>
          <p:cNvSpPr txBox="1"/>
          <p:nvPr/>
        </p:nvSpPr>
        <p:spPr>
          <a:xfrm>
            <a:off x="502051" y="2161189"/>
            <a:ext cx="11187897" cy="334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3. Sensor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Vehicle OBD-II logs (speed, acceleration, RPM)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Simulated environment data (rain, GPS, steering grip)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4. Annotation Tools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CVAT </a:t>
            </a:r>
            <a:r>
              <a:rPr lang="en-IN" sz="2400" dirty="0"/>
              <a:t>for image annotations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Audacity + manual </a:t>
            </a:r>
            <a:r>
              <a:rPr lang="en-IN" sz="2400" b="1" dirty="0" err="1"/>
              <a:t>labeling</a:t>
            </a:r>
            <a:r>
              <a:rPr lang="en-IN" sz="2400" dirty="0"/>
              <a:t> for audio clips</a:t>
            </a:r>
          </a:p>
        </p:txBody>
      </p:sp>
    </p:spTree>
    <p:extLst>
      <p:ext uri="{BB962C8B-B14F-4D97-AF65-F5344CB8AC3E}">
        <p14:creationId xmlns:p14="http://schemas.microsoft.com/office/powerpoint/2010/main" val="3447763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5A66-4266-4472-89AE-0B39C95FE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E1C048-87FA-982A-A4EC-EC1C433ABB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5313A-3884-D6A7-979E-A7B01D5AFC3E}"/>
              </a:ext>
            </a:extLst>
          </p:cNvPr>
          <p:cNvSpPr/>
          <p:nvPr/>
        </p:nvSpPr>
        <p:spPr>
          <a:xfrm>
            <a:off x="3924585" y="2967335"/>
            <a:ext cx="43428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Methodology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3504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83803-0295-EF66-896F-2D8B3D844575}"/>
              </a:ext>
            </a:extLst>
          </p:cNvPr>
          <p:cNvSpPr txBox="1"/>
          <p:nvPr/>
        </p:nvSpPr>
        <p:spPr>
          <a:xfrm>
            <a:off x="520860" y="1286838"/>
            <a:ext cx="10104756" cy="390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Approach:</a:t>
            </a:r>
            <a:endParaRPr lang="en-US" sz="24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Collect data from </a:t>
            </a:r>
            <a:r>
              <a:rPr lang="en-US" sz="2400" b="1" dirty="0"/>
              <a:t>Vision, Audio, and Sensor modules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Perform </a:t>
            </a:r>
            <a:r>
              <a:rPr lang="en-US" sz="2400" b="1" dirty="0"/>
              <a:t>Pre-processing</a:t>
            </a:r>
            <a:r>
              <a:rPr lang="en-US" sz="2400" dirty="0"/>
              <a:t> (noise removal, feature extraction).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Multimodal Fusion</a:t>
            </a:r>
            <a:r>
              <a:rPr lang="en-US" sz="2400" dirty="0"/>
              <a:t> (combine all inputs).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Use </a:t>
            </a:r>
            <a:r>
              <a:rPr lang="en-US" sz="2400" b="1" dirty="0"/>
              <a:t>Rule-Based System</a:t>
            </a:r>
            <a:r>
              <a:rPr lang="en-US" sz="2400" dirty="0"/>
              <a:t> (IF–THEN conditions).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Trigger </a:t>
            </a:r>
            <a:r>
              <a:rPr lang="en-US" sz="2400" b="1" dirty="0"/>
              <a:t>Alerts</a:t>
            </a:r>
            <a:r>
              <a:rPr lang="en-US" sz="2400" dirty="0"/>
              <a:t> (audio, visual, haptic).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Store results in </a:t>
            </a:r>
            <a:r>
              <a:rPr lang="en-US" sz="2400" b="1" dirty="0"/>
              <a:t>System Log</a:t>
            </a:r>
            <a:r>
              <a:rPr lang="en-US" sz="2400" dirty="0"/>
              <a:t> for analysis.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0908C-8F3C-BD3C-BA3D-D32936999567}"/>
              </a:ext>
            </a:extLst>
          </p:cNvPr>
          <p:cNvSpPr txBox="1"/>
          <p:nvPr/>
        </p:nvSpPr>
        <p:spPr>
          <a:xfrm>
            <a:off x="520860" y="5463251"/>
            <a:ext cx="9352346" cy="400110"/>
          </a:xfrm>
          <a:prstGeom prst="rect">
            <a:avLst/>
          </a:prstGeom>
          <a:gradFill flip="none" rotWithShape="1">
            <a:gsLst>
              <a:gs pos="0">
                <a:srgbClr val="D5222F">
                  <a:tint val="66000"/>
                  <a:satMod val="160000"/>
                </a:srgbClr>
              </a:gs>
              <a:gs pos="50000">
                <a:srgbClr val="D5222F">
                  <a:tint val="44500"/>
                  <a:satMod val="160000"/>
                </a:srgbClr>
              </a:gs>
              <a:gs pos="100000">
                <a:srgbClr val="D5222F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IN" sz="2000" b="1" dirty="0"/>
              <a:t>Data Collection → Fusion → Rule Checking → Alert → Driver Action → Logging</a:t>
            </a:r>
            <a:r>
              <a:rPr lang="en-IN" sz="2000" dirty="0"/>
              <a:t>.</a:t>
            </a:r>
            <a:endParaRPr lang="en-IN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046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771966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</a:rPr>
              <a:t>METHODOLOGY STEPS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9896E-EFDE-EE8B-AC4E-2295D71C4D21}"/>
              </a:ext>
            </a:extLst>
          </p:cNvPr>
          <p:cNvSpPr/>
          <p:nvPr/>
        </p:nvSpPr>
        <p:spPr>
          <a:xfrm>
            <a:off x="196772" y="1251944"/>
            <a:ext cx="11702004" cy="51951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b="1" dirty="0"/>
          </a:p>
          <a:p>
            <a:r>
              <a:rPr lang="en-US" sz="2400" b="1" dirty="0"/>
              <a:t>1. Data Acquisition</a:t>
            </a:r>
            <a:endParaRPr lang="en-US" sz="2400" dirty="0"/>
          </a:p>
          <a:p>
            <a:r>
              <a:rPr lang="en-US" sz="2400" b="1" dirty="0"/>
              <a:t>Vision</a:t>
            </a:r>
            <a:r>
              <a:rPr lang="en-US" sz="2400" dirty="0"/>
              <a:t> → Camera + YOLO (object detection, driver monitoring).</a:t>
            </a:r>
          </a:p>
          <a:p>
            <a:r>
              <a:rPr lang="en-US" sz="2400" b="1" dirty="0"/>
              <a:t>Audio</a:t>
            </a:r>
            <a:r>
              <a:rPr lang="en-US" sz="2400" dirty="0"/>
              <a:t> → Microphone + Audio classifier (horn, siren, yawning).</a:t>
            </a:r>
          </a:p>
          <a:p>
            <a:r>
              <a:rPr lang="en-US" sz="2400" b="1" dirty="0"/>
              <a:t>Sensors</a:t>
            </a:r>
            <a:r>
              <a:rPr lang="en-US" sz="2400" dirty="0"/>
              <a:t> → OBD-II / GPS / environment sensors (speed, rain, grip).</a:t>
            </a:r>
          </a:p>
          <a:p>
            <a:endParaRPr lang="en-US" sz="2400" dirty="0"/>
          </a:p>
          <a:p>
            <a:r>
              <a:rPr lang="en-IN" sz="2400" b="1" dirty="0"/>
              <a:t>2. Pre-processing</a:t>
            </a:r>
            <a:endParaRPr lang="en-IN" sz="2400" dirty="0"/>
          </a:p>
          <a:p>
            <a:r>
              <a:rPr lang="en-IN" sz="2400" b="1" dirty="0"/>
              <a:t>Vision</a:t>
            </a:r>
            <a:r>
              <a:rPr lang="en-IN" sz="2400" dirty="0"/>
              <a:t> → Resize, normalize frames.</a:t>
            </a:r>
          </a:p>
          <a:p>
            <a:r>
              <a:rPr lang="en-IN" sz="2400" b="1" dirty="0"/>
              <a:t>Audio</a:t>
            </a:r>
            <a:r>
              <a:rPr lang="en-IN" sz="2400" dirty="0"/>
              <a:t> → Convert to spectrogram, filter noise.</a:t>
            </a:r>
          </a:p>
          <a:p>
            <a:r>
              <a:rPr lang="en-IN" sz="2400" b="1" dirty="0"/>
              <a:t>Sensor</a:t>
            </a:r>
            <a:r>
              <a:rPr lang="en-IN" sz="2400" dirty="0"/>
              <a:t> → Normalize values, handle missing data.</a:t>
            </a:r>
          </a:p>
          <a:p>
            <a:endParaRPr lang="en-IN" sz="2400" dirty="0"/>
          </a:p>
          <a:p>
            <a:r>
              <a:rPr lang="en-US" sz="2400" b="1" dirty="0"/>
              <a:t>3. Multimodal Fusion</a:t>
            </a:r>
            <a:endParaRPr lang="en-US" sz="2400" dirty="0"/>
          </a:p>
          <a:p>
            <a:r>
              <a:rPr lang="en-US" sz="2400" dirty="0"/>
              <a:t>Combine all outputs into a </a:t>
            </a:r>
            <a:r>
              <a:rPr lang="en-US" sz="2400" b="1" dirty="0"/>
              <a:t>unified structured format</a:t>
            </a:r>
            <a:r>
              <a:rPr lang="en-US" sz="2400" dirty="0"/>
              <a:t>.</a:t>
            </a:r>
          </a:p>
          <a:p>
            <a:r>
              <a:rPr lang="en-US" sz="2400" dirty="0"/>
              <a:t>Example: </a:t>
            </a:r>
            <a:r>
              <a:rPr lang="en-US" dirty="0"/>
              <a:t>{pedestrian=True, speed=65, </a:t>
            </a:r>
            <a:r>
              <a:rPr lang="en-US" dirty="0" err="1"/>
              <a:t>driver_drowsy</a:t>
            </a:r>
            <a:r>
              <a:rPr lang="en-US" dirty="0"/>
              <a:t>=True}</a:t>
            </a:r>
            <a:endParaRPr lang="en-US" sz="2400" dirty="0"/>
          </a:p>
          <a:p>
            <a:endParaRPr lang="en-IN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9870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</a:rPr>
              <a:t>CONT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9896E-EFDE-EE8B-AC4E-2295D71C4D21}"/>
              </a:ext>
            </a:extLst>
          </p:cNvPr>
          <p:cNvSpPr/>
          <p:nvPr/>
        </p:nvSpPr>
        <p:spPr>
          <a:xfrm>
            <a:off x="287579" y="1306694"/>
            <a:ext cx="11616842" cy="47160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400" dirty="0"/>
          </a:p>
          <a:p>
            <a:r>
              <a:rPr lang="en-IN" sz="2400" b="1" dirty="0"/>
              <a:t>4. Rule-Based Alerting</a:t>
            </a:r>
            <a:endParaRPr lang="en-IN" sz="2400" dirty="0"/>
          </a:p>
          <a:p>
            <a:r>
              <a:rPr lang="en-IN" sz="2400" dirty="0"/>
              <a:t>IF pedestrian detected + speed high → </a:t>
            </a:r>
            <a:r>
              <a:rPr lang="en-IN" sz="2400" b="1" dirty="0"/>
              <a:t>Collision Alert</a:t>
            </a:r>
            <a:endParaRPr lang="en-IN" sz="2400" dirty="0"/>
          </a:p>
          <a:p>
            <a:r>
              <a:rPr lang="en-IN" sz="2400" dirty="0"/>
              <a:t>IF eyes closed &gt; 2s → </a:t>
            </a:r>
            <a:r>
              <a:rPr lang="en-IN" sz="2400" b="1" dirty="0"/>
              <a:t>Drowsiness Alert</a:t>
            </a:r>
            <a:endParaRPr lang="en-IN" sz="2400" dirty="0"/>
          </a:p>
          <a:p>
            <a:r>
              <a:rPr lang="en-IN" sz="2400" dirty="0"/>
              <a:t>IF red light + moving → </a:t>
            </a:r>
            <a:r>
              <a:rPr lang="en-IN" sz="2400" b="1" dirty="0"/>
              <a:t>Traffic Violation Alert</a:t>
            </a:r>
          </a:p>
          <a:p>
            <a:endParaRPr lang="en-IN" sz="2400" dirty="0"/>
          </a:p>
          <a:p>
            <a:r>
              <a:rPr lang="en-IN" sz="2400" b="1" dirty="0"/>
              <a:t>5. Alert Generation</a:t>
            </a:r>
            <a:endParaRPr lang="en-IN" sz="2400" dirty="0"/>
          </a:p>
          <a:p>
            <a:r>
              <a:rPr lang="en-IN" sz="2400" b="1" dirty="0"/>
              <a:t>Audio</a:t>
            </a:r>
            <a:r>
              <a:rPr lang="en-IN" sz="2400" dirty="0"/>
              <a:t>: Voice / Beep</a:t>
            </a:r>
          </a:p>
          <a:p>
            <a:r>
              <a:rPr lang="en-IN" sz="2400" b="1" dirty="0"/>
              <a:t>Visual</a:t>
            </a:r>
            <a:r>
              <a:rPr lang="en-IN" sz="2400" dirty="0"/>
              <a:t>: Dashboard / HUD icons</a:t>
            </a:r>
          </a:p>
          <a:p>
            <a:r>
              <a:rPr lang="en-IN" sz="2400" b="1" dirty="0"/>
              <a:t>Haptic</a:t>
            </a:r>
            <a:r>
              <a:rPr lang="en-IN" sz="2400" dirty="0"/>
              <a:t>: Steering vibration</a:t>
            </a:r>
          </a:p>
          <a:p>
            <a:endParaRPr lang="en-IN" sz="2400" dirty="0"/>
          </a:p>
          <a:p>
            <a:r>
              <a:rPr lang="en-IN" sz="2400" b="1" dirty="0"/>
              <a:t>6. Logging &amp; Feedback</a:t>
            </a:r>
            <a:endParaRPr lang="en-IN" sz="2400" dirty="0"/>
          </a:p>
          <a:p>
            <a:r>
              <a:rPr lang="en-IN" sz="2400" dirty="0"/>
              <a:t>Store event data for performance analysis and improvements.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5333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AE987-4A06-49B7-F28D-383B38D6D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B7F12-FC8A-1B43-BC27-B9AACC7B6230}"/>
              </a:ext>
            </a:extLst>
          </p:cNvPr>
          <p:cNvSpPr/>
          <p:nvPr/>
        </p:nvSpPr>
        <p:spPr>
          <a:xfrm>
            <a:off x="1510371" y="2967335"/>
            <a:ext cx="91712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Future Scope and objectives </a:t>
            </a:r>
          </a:p>
        </p:txBody>
      </p:sp>
    </p:spTree>
    <p:extLst>
      <p:ext uri="{BB962C8B-B14F-4D97-AF65-F5344CB8AC3E}">
        <p14:creationId xmlns:p14="http://schemas.microsoft.com/office/powerpoint/2010/main" val="160228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2BD9DF-3071-8FC6-D370-179688CA372E}"/>
              </a:ext>
            </a:extLst>
          </p:cNvPr>
          <p:cNvSpPr/>
          <p:nvPr/>
        </p:nvSpPr>
        <p:spPr>
          <a:xfrm rot="10800000">
            <a:off x="209899" y="2129741"/>
            <a:ext cx="11520668" cy="372704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164D1C88-C5D3-E169-3818-F1304528BBDE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</a:rPr>
              <a:t>Future Scope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CE04698-CD50-F2A0-21E7-B81B0E0C128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6689" y="2538471"/>
            <a:ext cx="11520668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Driver Assistance Systems (ADAS)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+ multimodal transformers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rule-based logic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data storage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fleet monitoring &amp; analytics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integration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and 5G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alerts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vehicle systems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3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70E08F-B3CE-61A2-16AF-031D9C474CF9}"/>
              </a:ext>
            </a:extLst>
          </p:cNvPr>
          <p:cNvSpPr/>
          <p:nvPr/>
        </p:nvSpPr>
        <p:spPr>
          <a:xfrm rot="10800000">
            <a:off x="79410" y="1641466"/>
            <a:ext cx="11946685" cy="41805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ACE7FE4E-8CB8-A4BA-6684-D13EF39B2B22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APPLICATIONS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9855E-2C09-2C0C-3BEC-360316C5C3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4034" y="2437950"/>
            <a:ext cx="11555767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Safety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Drowsiness, distraction, and collision alerts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Monitoring violations (signal jumping,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overspeeding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Vehicles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Enhanced in-car assistant with multimodal awareness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Insurance Industry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Accident data logging for claim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Transport &amp; Logistics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Fleet safety monitoring and route optimization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54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C35C-5FA7-F188-7650-DFC69462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A8E36-18A2-267B-18DB-09147287B0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BF4FB-AF4E-2689-75ED-3EFF7D9FCC9B}"/>
              </a:ext>
            </a:extLst>
          </p:cNvPr>
          <p:cNvSpPr/>
          <p:nvPr/>
        </p:nvSpPr>
        <p:spPr>
          <a:xfrm>
            <a:off x="1731139" y="2967335"/>
            <a:ext cx="87297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Gantt chart and </a:t>
            </a:r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ork plan </a:t>
            </a:r>
          </a:p>
        </p:txBody>
      </p:sp>
    </p:spTree>
    <p:extLst>
      <p:ext uri="{BB962C8B-B14F-4D97-AF65-F5344CB8AC3E}">
        <p14:creationId xmlns:p14="http://schemas.microsoft.com/office/powerpoint/2010/main" val="222754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AE987-4A06-49B7-F28D-383B38D6D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33BA28E-D4A2-B7E9-2F8C-D1F6415EE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15956"/>
              </p:ext>
            </p:extLst>
          </p:nvPr>
        </p:nvGraphicFramePr>
        <p:xfrm>
          <a:off x="324034" y="1608881"/>
          <a:ext cx="11647966" cy="4642811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650002">
                  <a:extLst>
                    <a:ext uri="{9D8B030D-6E8A-4147-A177-3AD203B41FA5}">
                      <a16:colId xmlns:a16="http://schemas.microsoft.com/office/drawing/2014/main" val="3602229835"/>
                    </a:ext>
                  </a:extLst>
                </a:gridCol>
                <a:gridCol w="1606190">
                  <a:extLst>
                    <a:ext uri="{9D8B030D-6E8A-4147-A177-3AD203B41FA5}">
                      <a16:colId xmlns:a16="http://schemas.microsoft.com/office/drawing/2014/main" val="2034761933"/>
                    </a:ext>
                  </a:extLst>
                </a:gridCol>
                <a:gridCol w="1881445">
                  <a:extLst>
                    <a:ext uri="{9D8B030D-6E8A-4147-A177-3AD203B41FA5}">
                      <a16:colId xmlns:a16="http://schemas.microsoft.com/office/drawing/2014/main" val="4027846784"/>
                    </a:ext>
                  </a:extLst>
                </a:gridCol>
                <a:gridCol w="1686416">
                  <a:extLst>
                    <a:ext uri="{9D8B030D-6E8A-4147-A177-3AD203B41FA5}">
                      <a16:colId xmlns:a16="http://schemas.microsoft.com/office/drawing/2014/main" val="75504125"/>
                    </a:ext>
                  </a:extLst>
                </a:gridCol>
                <a:gridCol w="2030583">
                  <a:extLst>
                    <a:ext uri="{9D8B030D-6E8A-4147-A177-3AD203B41FA5}">
                      <a16:colId xmlns:a16="http://schemas.microsoft.com/office/drawing/2014/main" val="1721485599"/>
                    </a:ext>
                  </a:extLst>
                </a:gridCol>
                <a:gridCol w="1793330">
                  <a:extLst>
                    <a:ext uri="{9D8B030D-6E8A-4147-A177-3AD203B41FA5}">
                      <a16:colId xmlns:a16="http://schemas.microsoft.com/office/drawing/2014/main" val="1036067896"/>
                    </a:ext>
                  </a:extLst>
                </a:gridCol>
              </a:tblGrid>
              <a:tr h="409462">
                <a:tc>
                  <a:txBody>
                    <a:bodyPr/>
                    <a:lstStyle/>
                    <a:p>
                      <a:r>
                        <a:rPr lang="en-IN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5-6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7-8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9-10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49029"/>
                  </a:ext>
                </a:extLst>
              </a:tr>
              <a:tr h="539479">
                <a:tc>
                  <a:txBody>
                    <a:bodyPr/>
                    <a:lstStyle/>
                    <a:p>
                      <a:r>
                        <a:rPr lang="en-IN" dirty="0"/>
                        <a:t>Requirement analysis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226761"/>
                  </a:ext>
                </a:extLst>
              </a:tr>
              <a:tr h="491917">
                <a:tc>
                  <a:txBody>
                    <a:bodyPr/>
                    <a:lstStyle/>
                    <a:p>
                      <a:r>
                        <a:rPr lang="en-IN" dirty="0"/>
                        <a:t>Dataset collection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671512"/>
                  </a:ext>
                </a:extLst>
              </a:tr>
              <a:tr h="528121">
                <a:tc>
                  <a:txBody>
                    <a:bodyPr/>
                    <a:lstStyle/>
                    <a:p>
                      <a:r>
                        <a:rPr lang="en-IN" dirty="0"/>
                        <a:t>Pre processing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695592"/>
                  </a:ext>
                </a:extLst>
              </a:tr>
              <a:tr h="540539">
                <a:tc>
                  <a:txBody>
                    <a:bodyPr/>
                    <a:lstStyle/>
                    <a:p>
                      <a:r>
                        <a:rPr lang="en-IN" dirty="0"/>
                        <a:t>Model development (yolo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044341"/>
                  </a:ext>
                </a:extLst>
              </a:tr>
              <a:tr h="536900">
                <a:tc>
                  <a:txBody>
                    <a:bodyPr/>
                    <a:lstStyle/>
                    <a:p>
                      <a:r>
                        <a:rPr lang="en-IN" dirty="0"/>
                        <a:t>Rule based 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325305"/>
                  </a:ext>
                </a:extLst>
              </a:tr>
              <a:tr h="696836">
                <a:tc>
                  <a:txBody>
                    <a:bodyPr/>
                    <a:lstStyle/>
                    <a:p>
                      <a:r>
                        <a:rPr lang="en-IN" dirty="0"/>
                        <a:t>Integration and fusion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143963"/>
                  </a:ext>
                </a:extLst>
              </a:tr>
              <a:tr h="696836">
                <a:tc>
                  <a:txBody>
                    <a:bodyPr/>
                    <a:lstStyle/>
                    <a:p>
                      <a:r>
                        <a:rPr lang="en-IN" dirty="0"/>
                        <a:t>Testing and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745752"/>
                  </a:ext>
                </a:extLst>
              </a:tr>
            </a:tbl>
          </a:graphicData>
        </a:graphic>
      </p:graphicFrame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04668DA5-87A9-EAD3-B593-BAE21A25C1B8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3248981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60E1E-FA54-C19B-8FA2-BC6C0FC633DB}"/>
              </a:ext>
            </a:extLst>
          </p:cNvPr>
          <p:cNvSpPr/>
          <p:nvPr/>
        </p:nvSpPr>
        <p:spPr>
          <a:xfrm rot="10800000">
            <a:off x="98385" y="1336873"/>
            <a:ext cx="11684643" cy="48671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F6A40A08-A709-E783-BEA8-E84D4973CA68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WORK PLAN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B7C77A-F13D-0C88-832E-F3962DF9D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323859"/>
              </p:ext>
            </p:extLst>
          </p:nvPr>
        </p:nvGraphicFramePr>
        <p:xfrm>
          <a:off x="838200" y="1423686"/>
          <a:ext cx="10515600" cy="463500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026475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21941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26120441"/>
                    </a:ext>
                  </a:extLst>
                </a:gridCol>
              </a:tblGrid>
              <a:tr h="41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Task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Duration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 / Module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838478"/>
                  </a:ext>
                </a:extLst>
              </a:tr>
              <a:tr h="41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system scope, objectives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33684"/>
                  </a:ext>
                </a:extLst>
              </a:tr>
              <a:tr h="41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1-4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Collect vision, audio, sensor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52010"/>
                  </a:ext>
                </a:extLst>
              </a:tr>
              <a:tr h="41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Pre-processing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3-6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Clean data,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846107"/>
                  </a:ext>
                </a:extLst>
              </a:tr>
              <a:tr h="41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YOLO Model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5-8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object detection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746056"/>
                  </a:ext>
                </a:extLst>
              </a:tr>
              <a:tr h="41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Rule-Based System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7-8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 alert rules and thresholds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60049"/>
                  </a:ext>
                </a:extLst>
              </a:tr>
              <a:tr h="72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Integration &amp;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7-10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Combine all modules into unified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325274"/>
                  </a:ext>
                </a:extLst>
              </a:tr>
              <a:tr h="72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Testing &amp;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9-10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alerts, accuracy, and reliability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601853"/>
                  </a:ext>
                </a:extLst>
              </a:tr>
              <a:tr h="72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Documentation &amp;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9-10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Prepare final report and 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709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705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1307-1B9C-F9D2-DC30-C188ED98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4082A2-B809-C5AB-925A-A3495A39BC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339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47AFB63F-7D0F-4C4C-97DF-F48093569E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35C6A8-E544-413A-14DE-0168A0B32ABF}"/>
              </a:ext>
            </a:extLst>
          </p:cNvPr>
          <p:cNvSpPr/>
          <p:nvPr/>
        </p:nvSpPr>
        <p:spPr>
          <a:xfrm>
            <a:off x="4250699" y="2967335"/>
            <a:ext cx="36906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560481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692CD3-FFD3-6B17-E635-9FA982749ECB}"/>
              </a:ext>
            </a:extLst>
          </p:cNvPr>
          <p:cNvSpPr/>
          <p:nvPr/>
        </p:nvSpPr>
        <p:spPr>
          <a:xfrm rot="10800000">
            <a:off x="98385" y="1336873"/>
            <a:ext cx="11719366" cy="480928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04D08BFA-3DEE-BA23-52AF-C15DA006CD5C}"/>
              </a:ext>
            </a:extLst>
          </p:cNvPr>
          <p:cNvSpPr/>
          <p:nvPr/>
        </p:nvSpPr>
        <p:spPr>
          <a:xfrm>
            <a:off x="324034" y="221796"/>
            <a:ext cx="5646199" cy="7904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2"/>
                </a:solidFill>
                <a:latin typeface="+mj-lt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EFC47-14B6-84C8-043D-28ADFD728785}"/>
              </a:ext>
            </a:extLst>
          </p:cNvPr>
          <p:cNvSpPr txBox="1"/>
          <p:nvPr/>
        </p:nvSpPr>
        <p:spPr>
          <a:xfrm>
            <a:off x="324034" y="1597306"/>
            <a:ext cx="114937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2400" dirty="0" err="1"/>
              <a:t>Bochkovskiy</a:t>
            </a:r>
            <a:r>
              <a:rPr lang="en-IN" sz="2400" dirty="0"/>
              <a:t>, A., Wang, C., &amp; Liao, H. (2020). </a:t>
            </a:r>
            <a:r>
              <a:rPr lang="en-IN" sz="2400" b="1" dirty="0"/>
              <a:t>YOLOv4: Optimal Speed and Accuracy of Object Detection</a:t>
            </a:r>
            <a:r>
              <a:rPr lang="en-IN" sz="2400" dirty="0"/>
              <a:t>. </a:t>
            </a:r>
            <a:r>
              <a:rPr lang="en-IN" sz="2400" i="1" dirty="0" err="1"/>
              <a:t>arXiv</a:t>
            </a:r>
            <a:r>
              <a:rPr lang="en-IN" sz="2400" i="1" dirty="0"/>
              <a:t> preprint arXiv:2004.10934.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dirty="0" err="1"/>
              <a:t>Ultralytics</a:t>
            </a:r>
            <a:r>
              <a:rPr lang="en-IN" sz="2400" dirty="0"/>
              <a:t>. (2023). </a:t>
            </a:r>
            <a:r>
              <a:rPr lang="en-IN" sz="2400" b="1" dirty="0"/>
              <a:t>YOLOv8 Documentation</a:t>
            </a:r>
            <a:r>
              <a:rPr lang="en-IN" sz="2400" dirty="0"/>
              <a:t>. Available at: https://docs.ultralytics.com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Salamon, J., &amp; Bello, J. P. (2014). </a:t>
            </a:r>
            <a:r>
              <a:rPr lang="en-IN" sz="2400" b="1" dirty="0"/>
              <a:t>UrbanSound8K: A Dataset of Urban Sounds</a:t>
            </a:r>
            <a:r>
              <a:rPr lang="en-IN" sz="2400" dirty="0"/>
              <a:t>. </a:t>
            </a:r>
            <a:r>
              <a:rPr lang="en-IN" sz="2400" i="1" dirty="0"/>
              <a:t>Proceedings of the 22nd ACM International Conference on Multimedia.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dirty="0"/>
              <a:t>Geiger, A., Lenz, P., &amp; Urtasun, R. (2012). </a:t>
            </a:r>
            <a:r>
              <a:rPr lang="en-IN" sz="2400" b="1" dirty="0"/>
              <a:t>Are We Ready for Autonomous Driving? The KITTI Vision Benchmark Suite.</a:t>
            </a:r>
            <a:r>
              <a:rPr lang="en-IN" sz="2400" dirty="0"/>
              <a:t> </a:t>
            </a:r>
            <a:r>
              <a:rPr lang="en-IN" sz="2400" i="1" dirty="0"/>
              <a:t>CVPR 2012.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dirty="0"/>
              <a:t>Redmon, J., &amp; Farhadi, A. (2018). </a:t>
            </a:r>
            <a:r>
              <a:rPr lang="en-IN" sz="2400" b="1" dirty="0"/>
              <a:t>YOLOv3: An Incremental Improvement.</a:t>
            </a:r>
            <a:r>
              <a:rPr lang="en-IN" sz="2400" dirty="0"/>
              <a:t> </a:t>
            </a:r>
            <a:r>
              <a:rPr lang="en-IN" sz="2400" i="1" dirty="0" err="1"/>
              <a:t>arXiv</a:t>
            </a:r>
            <a:r>
              <a:rPr lang="en-IN" sz="2400" i="1" dirty="0"/>
              <a:t> preprint arXiv:1804.02767.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dirty="0"/>
              <a:t>OpenCV Team. (2023). </a:t>
            </a:r>
            <a:r>
              <a:rPr lang="en-IN" sz="2400" b="1" dirty="0"/>
              <a:t>OpenCV Documentation</a:t>
            </a:r>
            <a:r>
              <a:rPr lang="en-IN" sz="2400" dirty="0"/>
              <a:t>. Available at: </a:t>
            </a:r>
            <a:r>
              <a:rPr lang="en-IN" sz="2400" dirty="0">
                <a:hlinkClick r:id="rId2"/>
              </a:rPr>
              <a:t>https://opencv.org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6513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39896E-EFDE-EE8B-AC4E-2295D71C4D21}"/>
              </a:ext>
            </a:extLst>
          </p:cNvPr>
          <p:cNvSpPr/>
          <p:nvPr/>
        </p:nvSpPr>
        <p:spPr>
          <a:xfrm>
            <a:off x="115410" y="1222707"/>
            <a:ext cx="11709646" cy="501588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 fontAlgn="base"/>
            <a:endParaRPr lang="en-IN" sz="2000" dirty="0">
              <a:solidFill>
                <a:srgbClr val="273239"/>
              </a:solidFill>
              <a:latin typeface="Nunito" pitchFamily="2" charset="77"/>
            </a:endParaRPr>
          </a:p>
          <a:p>
            <a:pPr algn="l" fontAlgn="base"/>
            <a:endParaRPr lang="en-IN" sz="2000" b="0" i="0" u="none" strike="noStrike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/>
            <a:endParaRPr lang="en-IN" sz="2000" dirty="0">
              <a:solidFill>
                <a:srgbClr val="273239"/>
              </a:solidFill>
              <a:latin typeface="Nunito" pitchFamily="2" charset="77"/>
            </a:endParaRPr>
          </a:p>
          <a:p>
            <a:pPr algn="l" fontAlgn="base"/>
            <a:endParaRPr lang="en-IN" sz="2000" b="0" i="0" u="none" strike="noStrike" dirty="0">
              <a:solidFill>
                <a:srgbClr val="273239"/>
              </a:solidFill>
              <a:effectLst/>
              <a:latin typeface="Nunito" pitchFamily="2" charset="77"/>
            </a:endParaRPr>
          </a:p>
        </p:txBody>
      </p:sp>
      <p:pic>
        <p:nvPicPr>
          <p:cNvPr id="4" name="Picture 3" descr="041.jpg">
            <a:extLst>
              <a:ext uri="{FF2B5EF4-FFF2-40B4-BE49-F238E27FC236}">
                <a16:creationId xmlns:a16="http://schemas.microsoft.com/office/drawing/2014/main" id="{9DD73A86-8C39-56E4-23F7-C4E2B64E8609}"/>
              </a:ext>
            </a:extLst>
          </p:cNvPr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518927" y="2267853"/>
            <a:ext cx="4383852" cy="263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3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C92F430564EF4D984C4A50052D1AF6" ma:contentTypeVersion="8" ma:contentTypeDescription="Create a new document." ma:contentTypeScope="" ma:versionID="8ea2e7608f469c9e254f81e35472f47d">
  <xsd:schema xmlns:xsd="http://www.w3.org/2001/XMLSchema" xmlns:xs="http://www.w3.org/2001/XMLSchema" xmlns:p="http://schemas.microsoft.com/office/2006/metadata/properties" xmlns:ns2="0fbc9270-0da3-4309-bbac-5b4c8771e74b" xmlns:ns3="ab30937d-86ce-40fb-8648-9463b070ea83" targetNamespace="http://schemas.microsoft.com/office/2006/metadata/properties" ma:root="true" ma:fieldsID="c5e28a6ccad94107522dd8297a35fb96" ns2:_="" ns3:_="">
    <xsd:import namespace="0fbc9270-0da3-4309-bbac-5b4c8771e74b"/>
    <xsd:import namespace="ab30937d-86ce-40fb-8648-9463b070ea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bc9270-0da3-4309-bbac-5b4c8771e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0937d-86ce-40fb-8648-9463b070ea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4F48E1-9933-4391-8244-83C4EEB51C21}">
  <ds:schemaRefs>
    <ds:schemaRef ds:uri="http://schemas.microsoft.com/office/infopath/2007/PartnerControls"/>
    <ds:schemaRef ds:uri="0fbc9270-0da3-4309-bbac-5b4c8771e74b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ab30937d-86ce-40fb-8648-9463b070ea83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C11DFEF-612F-4141-B56D-150EBCE7DFAF}">
  <ds:schemaRefs>
    <ds:schemaRef ds:uri="0fbc9270-0da3-4309-bbac-5b4c8771e74b"/>
    <ds:schemaRef ds:uri="ab30937d-86ce-40fb-8648-9463b070ea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D4AB573-32BB-4E18-B6D3-B305A81C58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5792</TotalTime>
  <Words>1145</Words>
  <Application>Microsoft Office PowerPoint</Application>
  <PresentationFormat>Widescreen</PresentationFormat>
  <Paragraphs>188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</vt:lpstr>
      <vt:lpstr>Nunito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Swarnim Swasti</dc:creator>
  <cp:lastModifiedBy>Taniya Dixit</cp:lastModifiedBy>
  <cp:revision>229</cp:revision>
  <dcterms:created xsi:type="dcterms:W3CDTF">2020-12-21T19:32:45Z</dcterms:created>
  <dcterms:modified xsi:type="dcterms:W3CDTF">2025-09-18T16:24:37Z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0x01010069C92F430564EF4D984C4A50052D1AF6</vt:lpwstr>
  </property>
</Properties>
</file>